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8288000" cy="10287000"/>
  <p:notesSz cx="6858000" cy="9144000"/>
  <p:embeddedFontLst>
    <p:embeddedFont>
      <p:font typeface="Cy Grotesk Wide" panose="020B0604020202020204" charset="-52"/>
      <p:regular r:id="rId12"/>
    </p:embeddedFont>
    <p:embeddedFont>
      <p:font typeface="Cy Grotesk Wide Bold" panose="020B0604020202020204" charset="-52"/>
      <p:regular r:id="rId13"/>
    </p:embeddedFont>
    <p:embeddedFont>
      <p:font typeface="Lastica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6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hyperlink" Target="https://www.microsoft.com/en-ww/microsoft-365/word" TargetMode="External"/><Relationship Id="rId1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hyperlink" Target="https://github.com/" TargetMode="External"/><Relationship Id="rId12" Type="http://schemas.openxmlformats.org/officeDocument/2006/relationships/image" Target="../media/image12.png"/><Relationship Id="rId17" Type="http://schemas.openxmlformats.org/officeDocument/2006/relationships/hyperlink" Target="https://www.microsoft.com/en/microsoft-teams/group-chat-software" TargetMode="External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hyperlink" Target="https://visualstudio.microsoft.com/vs/" TargetMode="External"/><Relationship Id="rId5" Type="http://schemas.openxmlformats.org/officeDocument/2006/relationships/image" Target="../media/image4.svg"/><Relationship Id="rId15" Type="http://schemas.openxmlformats.org/officeDocument/2006/relationships/hyperlink" Target="https://www.microsoft.com/en-ww/microsoft-365/powerpoint" TargetMode="External"/><Relationship Id="rId10" Type="http://schemas.openxmlformats.org/officeDocument/2006/relationships/image" Target="../media/image11.png"/><Relationship Id="rId19" Type="http://schemas.openxmlformats.org/officeDocument/2006/relationships/hyperlink" Target="https://git-scm.com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cplusplus.com/" TargetMode="External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2838804" cy="2838804"/>
          </a:xfrm>
          <a:custGeom>
            <a:avLst/>
            <a:gdLst/>
            <a:ahLst/>
            <a:cxnLst/>
            <a:rect l="l" t="t" r="r" b="b"/>
            <a:pathLst>
              <a:path w="2838804" h="2838804">
                <a:moveTo>
                  <a:pt x="0" y="0"/>
                </a:moveTo>
                <a:lnTo>
                  <a:pt x="2838804" y="0"/>
                </a:lnTo>
                <a:lnTo>
                  <a:pt x="2838804" y="2838804"/>
                </a:lnTo>
                <a:lnTo>
                  <a:pt x="0" y="2838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2127816" y="2744127"/>
            <a:ext cx="14032368" cy="163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16"/>
              </a:lnSpc>
            </a:pPr>
            <a:r>
              <a:rPr lang="en-US" sz="9440" b="1" spc="1123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Logic Rush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2838804" cy="2838804"/>
          </a:xfrm>
          <a:custGeom>
            <a:avLst/>
            <a:gdLst/>
            <a:ahLst/>
            <a:cxnLst/>
            <a:rect l="l" t="t" r="r" b="b"/>
            <a:pathLst>
              <a:path w="2838804" h="2838804">
                <a:moveTo>
                  <a:pt x="0" y="0"/>
                </a:moveTo>
                <a:lnTo>
                  <a:pt x="2838804" y="0"/>
                </a:lnTo>
                <a:lnTo>
                  <a:pt x="2838804" y="2838804"/>
                </a:lnTo>
                <a:lnTo>
                  <a:pt x="0" y="2838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8774207" y="5286545"/>
            <a:ext cx="8235534" cy="3792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2"/>
              </a:lnSpc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Logic Rush is a grid-based math challenge game where every move requires logical thinking.</a:t>
            </a:r>
          </a:p>
          <a:p>
            <a:pPr algn="just">
              <a:lnSpc>
                <a:spcPts val="2732"/>
              </a:lnSpc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 The player begins at the top-left cell (0,0) and must reach the final cell (N-1, N-1).</a:t>
            </a:r>
          </a:p>
          <a:p>
            <a:pPr algn="just">
              <a:lnSpc>
                <a:spcPts val="2732"/>
              </a:lnSpc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 Each cell contains a math problem that must be solved correctly to enter it.</a:t>
            </a:r>
          </a:p>
          <a:p>
            <a:pPr algn="just">
              <a:lnSpc>
                <a:spcPts val="2732"/>
              </a:lnSpc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 Correct answers give points, while mistakes cost lives.</a:t>
            </a:r>
          </a:p>
          <a:p>
            <a:pPr algn="just">
              <a:lnSpc>
                <a:spcPts val="2969"/>
              </a:lnSpc>
            </a:pPr>
            <a:endParaRPr lang="en-US" sz="2732">
              <a:solidFill>
                <a:srgbClr val="3C6CA8"/>
              </a:solidFill>
              <a:latin typeface="Cy Grotesk Wide"/>
              <a:ea typeface="Cy Grotesk Wide"/>
              <a:cs typeface="Cy Grotesk Wide"/>
              <a:sym typeface="Cy Grotesk Wid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94431" y="2771259"/>
            <a:ext cx="1551531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 spc="714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By Team Logic Legends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2838804" cy="2838804"/>
          </a:xfrm>
          <a:custGeom>
            <a:avLst/>
            <a:gdLst/>
            <a:ahLst/>
            <a:cxnLst/>
            <a:rect l="l" t="t" r="r" b="b"/>
            <a:pathLst>
              <a:path w="2838804" h="2838804">
                <a:moveTo>
                  <a:pt x="0" y="0"/>
                </a:moveTo>
                <a:lnTo>
                  <a:pt x="2838804" y="0"/>
                </a:lnTo>
                <a:lnTo>
                  <a:pt x="2838804" y="2838804"/>
                </a:lnTo>
                <a:lnTo>
                  <a:pt x="0" y="2838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7940960" y="5191125"/>
            <a:ext cx="9902028" cy="3755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9889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The game creates a grid depending on the selected difficulty.</a:t>
            </a:r>
          </a:p>
          <a:p>
            <a:pPr marL="589889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The player can move up, down, left, or right.</a:t>
            </a:r>
          </a:p>
          <a:p>
            <a:pPr marL="589889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Every cell contains a randomly generated math task.</a:t>
            </a:r>
          </a:p>
          <a:p>
            <a:pPr marL="589889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A correct answer allows the player to enter the cell and earn points.</a:t>
            </a:r>
          </a:p>
          <a:p>
            <a:pPr marL="589889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A wrong answer takes away a life and keeps the player in the same position.</a:t>
            </a:r>
          </a:p>
          <a:p>
            <a:pPr marL="589889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The game is won by reaching the final cell.</a:t>
            </a:r>
          </a:p>
          <a:p>
            <a:pPr marL="589889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The game is lost when all lives reach zero.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4431" y="2771259"/>
            <a:ext cx="1551531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Gameplay Overview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2838804" cy="2838804"/>
          </a:xfrm>
          <a:custGeom>
            <a:avLst/>
            <a:gdLst/>
            <a:ahLst/>
            <a:cxnLst/>
            <a:rect l="l" t="t" r="r" b="b"/>
            <a:pathLst>
              <a:path w="2838804" h="2838804">
                <a:moveTo>
                  <a:pt x="0" y="0"/>
                </a:moveTo>
                <a:lnTo>
                  <a:pt x="2838804" y="0"/>
                </a:lnTo>
                <a:lnTo>
                  <a:pt x="2838804" y="2838804"/>
                </a:lnTo>
                <a:lnTo>
                  <a:pt x="0" y="2838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7940960" y="6096381"/>
            <a:ext cx="9902028" cy="2058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9889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Grid size: 4×4</a:t>
            </a:r>
          </a:p>
          <a:p>
            <a:pPr marL="589889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Lives: 4</a:t>
            </a:r>
          </a:p>
          <a:p>
            <a:pPr marL="589889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Points per correct answer: 5–10</a:t>
            </a:r>
          </a:p>
          <a:p>
            <a:pPr marL="589889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Task types: addition and subtraction (numbers from 1 to 20)</a:t>
            </a:r>
          </a:p>
          <a:p>
            <a:pPr marL="589889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No traps or special cells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4431" y="2771259"/>
            <a:ext cx="1551531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Easy Mode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2838804" cy="2838804"/>
          </a:xfrm>
          <a:custGeom>
            <a:avLst/>
            <a:gdLst/>
            <a:ahLst/>
            <a:cxnLst/>
            <a:rect l="l" t="t" r="r" b="b"/>
            <a:pathLst>
              <a:path w="2838804" h="2838804">
                <a:moveTo>
                  <a:pt x="0" y="0"/>
                </a:moveTo>
                <a:lnTo>
                  <a:pt x="2838804" y="0"/>
                </a:lnTo>
                <a:lnTo>
                  <a:pt x="2838804" y="2838804"/>
                </a:lnTo>
                <a:lnTo>
                  <a:pt x="0" y="2838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7940960" y="6096381"/>
            <a:ext cx="9902028" cy="34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Grid size: 5×5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Lives: 3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Points per correct answer: 8–15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Task types: addition, subtraction, multiplication (up to 10×10), and integer division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Special cells: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Cells that give an extra life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Bonus cells that award double points</a:t>
            </a:r>
          </a:p>
          <a:p>
            <a:pPr algn="just">
              <a:lnSpc>
                <a:spcPts val="2732"/>
              </a:lnSpc>
            </a:pPr>
            <a:endParaRPr lang="en-US" sz="2732">
              <a:solidFill>
                <a:srgbClr val="3C6CA8"/>
              </a:solidFill>
              <a:latin typeface="Cy Grotesk Wide"/>
              <a:ea typeface="Cy Grotesk Wide"/>
              <a:cs typeface="Cy Grotesk Wide"/>
              <a:sym typeface="Cy Grotesk Wid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94431" y="2771259"/>
            <a:ext cx="1551531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Normal Mode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2838804" cy="2838804"/>
          </a:xfrm>
          <a:custGeom>
            <a:avLst/>
            <a:gdLst/>
            <a:ahLst/>
            <a:cxnLst/>
            <a:rect l="l" t="t" r="r" b="b"/>
            <a:pathLst>
              <a:path w="2838804" h="2838804">
                <a:moveTo>
                  <a:pt x="0" y="0"/>
                </a:moveTo>
                <a:lnTo>
                  <a:pt x="2838804" y="0"/>
                </a:lnTo>
                <a:lnTo>
                  <a:pt x="2838804" y="2838804"/>
                </a:lnTo>
                <a:lnTo>
                  <a:pt x="0" y="2838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7694072" y="5191125"/>
            <a:ext cx="9902028" cy="4822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Grid size: 7×7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Lives: 2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Points per correct answer: 10–25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Task types: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All tasks from Normal mode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Mixed expressions (for example: 13×3 minus 4, or 50 divided by 5 plus 6)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Square numbers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Modulo operations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Trap cells: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Trigger an additional task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A wrong answer inside a trap cell costs two lives</a:t>
            </a:r>
          </a:p>
          <a:p>
            <a:pPr algn="just">
              <a:lnSpc>
                <a:spcPts val="2732"/>
              </a:lnSpc>
            </a:pPr>
            <a:endParaRPr lang="en-US" sz="2732">
              <a:solidFill>
                <a:srgbClr val="3C6CA8"/>
              </a:solidFill>
              <a:latin typeface="Cy Grotesk Wide"/>
              <a:ea typeface="Cy Grotesk Wide"/>
              <a:cs typeface="Cy Grotesk Wide"/>
              <a:sym typeface="Cy Grotesk Wid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94431" y="2771259"/>
            <a:ext cx="1551531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Hard Mode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2838804" cy="2838804"/>
          </a:xfrm>
          <a:custGeom>
            <a:avLst/>
            <a:gdLst/>
            <a:ahLst/>
            <a:cxnLst/>
            <a:rect l="l" t="t" r="r" b="b"/>
            <a:pathLst>
              <a:path w="2838804" h="2838804">
                <a:moveTo>
                  <a:pt x="0" y="0"/>
                </a:moveTo>
                <a:lnTo>
                  <a:pt x="2838804" y="0"/>
                </a:lnTo>
                <a:lnTo>
                  <a:pt x="2838804" y="2838804"/>
                </a:lnTo>
                <a:lnTo>
                  <a:pt x="0" y="2838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7735220" y="5890641"/>
            <a:ext cx="9902028" cy="2079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Three difficulty levels with unique rules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Randomly generated math challenges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Grid-based movement system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Lives, points, bonus cells, and traps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Increasing complexity from Easy to Hard</a:t>
            </a:r>
          </a:p>
          <a:p>
            <a:pPr algn="just">
              <a:lnSpc>
                <a:spcPts val="2732"/>
              </a:lnSpc>
            </a:pPr>
            <a:endParaRPr lang="en-US" sz="2732">
              <a:solidFill>
                <a:srgbClr val="3C6CA8"/>
              </a:solidFill>
              <a:latin typeface="Cy Grotesk Wide"/>
              <a:ea typeface="Cy Grotesk Wide"/>
              <a:cs typeface="Cy Grotesk Wide"/>
              <a:sym typeface="Cy Grotesk Wid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94431" y="2771259"/>
            <a:ext cx="1551531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Features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9137" y="1407081"/>
            <a:ext cx="15249726" cy="1423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9"/>
              </a:lnSpc>
            </a:pPr>
            <a:r>
              <a:rPr lang="en-US" sz="7720" b="1" spc="918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Our team</a:t>
            </a:r>
          </a:p>
        </p:txBody>
      </p:sp>
      <p:sp>
        <p:nvSpPr>
          <p:cNvPr id="3" name="Freeform 3"/>
          <p:cNvSpPr/>
          <p:nvPr/>
        </p:nvSpPr>
        <p:spPr>
          <a:xfrm>
            <a:off x="-2513204" y="6507643"/>
            <a:ext cx="6619707" cy="6818050"/>
          </a:xfrm>
          <a:custGeom>
            <a:avLst/>
            <a:gdLst/>
            <a:ahLst/>
            <a:cxnLst/>
            <a:rect l="l" t="t" r="r" b="b"/>
            <a:pathLst>
              <a:path w="6619707" h="6818050">
                <a:moveTo>
                  <a:pt x="0" y="0"/>
                </a:moveTo>
                <a:lnTo>
                  <a:pt x="6619707" y="0"/>
                </a:lnTo>
                <a:lnTo>
                  <a:pt x="6619707" y="6818050"/>
                </a:lnTo>
                <a:lnTo>
                  <a:pt x="0" y="6818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3530148" y="3267006"/>
            <a:ext cx="3738081" cy="3738081"/>
            <a:chOff x="0" y="0"/>
            <a:chExt cx="14840029" cy="14840029"/>
          </a:xfrm>
        </p:grpSpPr>
        <p:sp>
          <p:nvSpPr>
            <p:cNvPr id="5" name="Freeform 5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C6CA8"/>
            </a:solidFill>
          </p:spPr>
          <p:txBody>
            <a:bodyPr/>
            <a:lstStyle/>
            <a:p>
              <a:endParaRPr lang="bg-BG"/>
            </a:p>
          </p:txBody>
        </p:sp>
        <p:sp>
          <p:nvSpPr>
            <p:cNvPr id="6" name="Freeform 6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bg-BG"/>
            </a:p>
          </p:txBody>
        </p:sp>
        <p:sp>
          <p:nvSpPr>
            <p:cNvPr id="7" name="Freeform 7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223" t="-38802" r="223" b="-38802"/>
              </a:stretch>
            </a:blipFill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8" name="Freeform 8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9" name="Freeform 9"/>
          <p:cNvSpPr/>
          <p:nvPr/>
        </p:nvSpPr>
        <p:spPr>
          <a:xfrm>
            <a:off x="0" y="0"/>
            <a:ext cx="2838804" cy="2838804"/>
          </a:xfrm>
          <a:custGeom>
            <a:avLst/>
            <a:gdLst/>
            <a:ahLst/>
            <a:cxnLst/>
            <a:rect l="l" t="t" r="r" b="b"/>
            <a:pathLst>
              <a:path w="2838804" h="2838804">
                <a:moveTo>
                  <a:pt x="0" y="0"/>
                </a:moveTo>
                <a:lnTo>
                  <a:pt x="2838804" y="0"/>
                </a:lnTo>
                <a:lnTo>
                  <a:pt x="2838804" y="2838804"/>
                </a:lnTo>
                <a:lnTo>
                  <a:pt x="0" y="2838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751502" y="3129493"/>
            <a:ext cx="3738081" cy="3738081"/>
            <a:chOff x="0" y="0"/>
            <a:chExt cx="14840029" cy="14840029"/>
          </a:xfrm>
        </p:grpSpPr>
        <p:sp>
          <p:nvSpPr>
            <p:cNvPr id="11" name="Freeform 11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C6CA8"/>
            </a:solidFill>
          </p:spPr>
          <p:txBody>
            <a:bodyPr/>
            <a:lstStyle/>
            <a:p>
              <a:endParaRPr lang="bg-BG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bg-B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8"/>
              <a:stretch>
                <a:fillRect l="223" r="223"/>
              </a:stretch>
            </a:blipFill>
          </p:spPr>
          <p:txBody>
            <a:bodyPr/>
            <a:lstStyle/>
            <a:p>
              <a:endParaRPr lang="bg-BG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5076055" y="3178451"/>
            <a:ext cx="3738081" cy="3738081"/>
            <a:chOff x="0" y="0"/>
            <a:chExt cx="14840029" cy="14840029"/>
          </a:xfrm>
        </p:grpSpPr>
        <p:sp>
          <p:nvSpPr>
            <p:cNvPr id="15" name="Freeform 15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C6CA8"/>
            </a:solidFill>
          </p:spPr>
          <p:txBody>
            <a:bodyPr/>
            <a:lstStyle/>
            <a:p>
              <a:endParaRPr lang="bg-BG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bg-BG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9"/>
              <a:stretch>
                <a:fillRect l="223" r="223"/>
              </a:stretch>
            </a:blipFill>
          </p:spPr>
          <p:txBody>
            <a:bodyPr/>
            <a:lstStyle/>
            <a:p>
              <a:endParaRPr lang="bg-BG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370685" y="3267007"/>
            <a:ext cx="3738081" cy="3738081"/>
            <a:chOff x="0" y="0"/>
            <a:chExt cx="14840029" cy="14840029"/>
          </a:xfrm>
        </p:grpSpPr>
        <p:sp>
          <p:nvSpPr>
            <p:cNvPr id="19" name="Freeform 19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C6CA8"/>
            </a:solidFill>
          </p:spPr>
          <p:txBody>
            <a:bodyPr/>
            <a:lstStyle/>
            <a:p>
              <a:endParaRPr lang="bg-BG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bg-BG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0"/>
              <a:stretch>
                <a:fillRect l="223" t="-17448" r="223" b="-17448"/>
              </a:stretch>
            </a:blipFill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888551" y="7033682"/>
            <a:ext cx="3021276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Plamen Nikolaev Rusev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18860" y="8034443"/>
            <a:ext cx="3360659" cy="34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023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DESIGNER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9905" y="7084119"/>
            <a:ext cx="3021276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Martin Atanasov Jelev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0214" y="8084880"/>
            <a:ext cx="3360659" cy="34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023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SCRUM TRAINER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21018" y="7033663"/>
            <a:ext cx="3659070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 dirty="0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Dimitar </a:t>
            </a:r>
            <a:r>
              <a:rPr lang="en-US" sz="2599" b="1" dirty="0" err="1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Plamenov</a:t>
            </a:r>
            <a:endParaRPr lang="en-US" sz="2599" b="1" dirty="0">
              <a:solidFill>
                <a:srgbClr val="3C6CA8"/>
              </a:solidFill>
              <a:latin typeface="Cy Grotesk Wide Bold"/>
              <a:ea typeface="Cy Grotesk Wide Bold"/>
              <a:cs typeface="Cy Grotesk Wide Bold"/>
              <a:sym typeface="Cy Grotesk Wide Bold"/>
            </a:endParaRPr>
          </a:p>
          <a:p>
            <a:pPr algn="ctr">
              <a:lnSpc>
                <a:spcPts val="3639"/>
              </a:lnSpc>
            </a:pPr>
            <a:r>
              <a:rPr lang="en-US" sz="2599" b="1" dirty="0" err="1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Nyagalov</a:t>
            </a:r>
            <a:endParaRPr lang="en-US" sz="2599" b="1" dirty="0">
              <a:solidFill>
                <a:srgbClr val="3C6CA8"/>
              </a:solidFill>
              <a:latin typeface="Cy Grotesk Wide Bold"/>
              <a:ea typeface="Cy Grotesk Wide Bold"/>
              <a:cs typeface="Cy Grotesk Wide Bold"/>
              <a:sym typeface="Cy Grotesk Wide Bold"/>
            </a:endParaRPr>
          </a:p>
          <a:p>
            <a:pPr algn="ctr">
              <a:lnSpc>
                <a:spcPts val="3639"/>
              </a:lnSpc>
            </a:pPr>
            <a:endParaRPr lang="en-US" sz="2599" b="1" dirty="0">
              <a:solidFill>
                <a:srgbClr val="3C6CA8"/>
              </a:solidFill>
              <a:latin typeface="Cy Grotesk Wide Bold"/>
              <a:ea typeface="Cy Grotesk Wide Bold"/>
              <a:cs typeface="Cy Grotesk Wide Bold"/>
              <a:sym typeface="Cy Grotesk Wid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121018" y="8034424"/>
            <a:ext cx="3360659" cy="69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023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FRONT-END DEVELOPER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29088" y="7084081"/>
            <a:ext cx="3021276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 dirty="0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Georgi </a:t>
            </a:r>
            <a:r>
              <a:rPr lang="en-US" sz="2599" b="1" dirty="0" err="1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Ivaylov</a:t>
            </a:r>
            <a:r>
              <a:rPr lang="en-US" sz="2599" b="1" dirty="0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 Nikolov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59397" y="8084842"/>
            <a:ext cx="3360659" cy="69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023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BACK-END DEVELOPER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2838804" cy="2838804"/>
          </a:xfrm>
          <a:custGeom>
            <a:avLst/>
            <a:gdLst/>
            <a:ahLst/>
            <a:cxnLst/>
            <a:rect l="l" t="t" r="r" b="b"/>
            <a:pathLst>
              <a:path w="2838804" h="2838804">
                <a:moveTo>
                  <a:pt x="0" y="0"/>
                </a:moveTo>
                <a:lnTo>
                  <a:pt x="2838804" y="0"/>
                </a:lnTo>
                <a:lnTo>
                  <a:pt x="2838804" y="2838804"/>
                </a:lnTo>
                <a:lnTo>
                  <a:pt x="0" y="2838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Freeform 5">
            <a:hlinkClick r:id="rId7"/>
          </p:cNvPr>
          <p:cNvSpPr/>
          <p:nvPr/>
        </p:nvSpPr>
        <p:spPr>
          <a:xfrm>
            <a:off x="14055443" y="4191567"/>
            <a:ext cx="1913938" cy="1903865"/>
          </a:xfrm>
          <a:custGeom>
            <a:avLst/>
            <a:gdLst/>
            <a:ahLst/>
            <a:cxnLst/>
            <a:rect l="l" t="t" r="r" b="b"/>
            <a:pathLst>
              <a:path w="1913938" h="1903865">
                <a:moveTo>
                  <a:pt x="0" y="0"/>
                </a:moveTo>
                <a:lnTo>
                  <a:pt x="1913938" y="0"/>
                </a:lnTo>
                <a:lnTo>
                  <a:pt x="1913938" y="1903866"/>
                </a:lnTo>
                <a:lnTo>
                  <a:pt x="0" y="19038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6" name="Freeform 6">
            <a:hlinkClick r:id="rId9"/>
          </p:cNvPr>
          <p:cNvSpPr>
            <a:spLocks/>
          </p:cNvSpPr>
          <p:nvPr/>
        </p:nvSpPr>
        <p:spPr>
          <a:xfrm>
            <a:off x="11439458" y="4191567"/>
            <a:ext cx="1692060" cy="1903865"/>
          </a:xfrm>
          <a:custGeom>
            <a:avLst/>
            <a:gdLst/>
            <a:ahLst/>
            <a:cxnLst/>
            <a:rect l="l" t="t" r="r" b="b"/>
            <a:pathLst>
              <a:path w="1692060" h="1903865">
                <a:moveTo>
                  <a:pt x="0" y="0"/>
                </a:moveTo>
                <a:lnTo>
                  <a:pt x="1692060" y="0"/>
                </a:lnTo>
                <a:lnTo>
                  <a:pt x="1692060" y="1903866"/>
                </a:lnTo>
                <a:lnTo>
                  <a:pt x="0" y="19038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7" name="Freeform 7">
            <a:hlinkClick r:id="rId11"/>
          </p:cNvPr>
          <p:cNvSpPr/>
          <p:nvPr/>
        </p:nvSpPr>
        <p:spPr>
          <a:xfrm>
            <a:off x="8300153" y="4191567"/>
            <a:ext cx="1903865" cy="1903865"/>
          </a:xfrm>
          <a:custGeom>
            <a:avLst/>
            <a:gdLst/>
            <a:ahLst/>
            <a:cxnLst/>
            <a:rect l="l" t="t" r="r" b="b"/>
            <a:pathLst>
              <a:path w="1903865" h="1903865">
                <a:moveTo>
                  <a:pt x="0" y="0"/>
                </a:moveTo>
                <a:lnTo>
                  <a:pt x="1903865" y="0"/>
                </a:lnTo>
                <a:lnTo>
                  <a:pt x="1903865" y="1903866"/>
                </a:lnTo>
                <a:lnTo>
                  <a:pt x="0" y="19038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8" name="Freeform 8">
            <a:hlinkClick r:id="rId13"/>
          </p:cNvPr>
          <p:cNvSpPr/>
          <p:nvPr/>
        </p:nvSpPr>
        <p:spPr>
          <a:xfrm>
            <a:off x="8352510" y="6809655"/>
            <a:ext cx="1851509" cy="1903865"/>
          </a:xfrm>
          <a:custGeom>
            <a:avLst/>
            <a:gdLst/>
            <a:ahLst/>
            <a:cxnLst/>
            <a:rect l="l" t="t" r="r" b="b"/>
            <a:pathLst>
              <a:path w="1851509" h="1903865">
                <a:moveTo>
                  <a:pt x="0" y="0"/>
                </a:moveTo>
                <a:lnTo>
                  <a:pt x="1851508" y="0"/>
                </a:lnTo>
                <a:lnTo>
                  <a:pt x="1851508" y="1903865"/>
                </a:lnTo>
                <a:lnTo>
                  <a:pt x="0" y="190386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9" name="Freeform 9">
            <a:hlinkClick r:id="rId15"/>
          </p:cNvPr>
          <p:cNvSpPr/>
          <p:nvPr/>
        </p:nvSpPr>
        <p:spPr>
          <a:xfrm>
            <a:off x="11175568" y="6809655"/>
            <a:ext cx="1965280" cy="1903865"/>
          </a:xfrm>
          <a:custGeom>
            <a:avLst/>
            <a:gdLst/>
            <a:ahLst/>
            <a:cxnLst/>
            <a:rect l="l" t="t" r="r" b="b"/>
            <a:pathLst>
              <a:path w="1965280" h="1903865">
                <a:moveTo>
                  <a:pt x="0" y="0"/>
                </a:moveTo>
                <a:lnTo>
                  <a:pt x="1965280" y="0"/>
                </a:lnTo>
                <a:lnTo>
                  <a:pt x="1965280" y="1903865"/>
                </a:lnTo>
                <a:lnTo>
                  <a:pt x="0" y="1903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10" name="Freeform 10">
            <a:hlinkClick r:id="rId17"/>
          </p:cNvPr>
          <p:cNvSpPr/>
          <p:nvPr/>
        </p:nvSpPr>
        <p:spPr>
          <a:xfrm>
            <a:off x="14167849" y="6809655"/>
            <a:ext cx="1801532" cy="1903865"/>
          </a:xfrm>
          <a:custGeom>
            <a:avLst/>
            <a:gdLst/>
            <a:ahLst/>
            <a:cxnLst/>
            <a:rect l="l" t="t" r="r" b="b"/>
            <a:pathLst>
              <a:path w="1801532" h="1903865">
                <a:moveTo>
                  <a:pt x="0" y="0"/>
                </a:moveTo>
                <a:lnTo>
                  <a:pt x="1801532" y="0"/>
                </a:lnTo>
                <a:lnTo>
                  <a:pt x="1801532" y="1903865"/>
                </a:lnTo>
                <a:lnTo>
                  <a:pt x="0" y="190386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11" name="Freeform 11">
            <a:hlinkClick r:id="rId19"/>
          </p:cNvPr>
          <p:cNvSpPr/>
          <p:nvPr/>
        </p:nvSpPr>
        <p:spPr>
          <a:xfrm>
            <a:off x="5693481" y="4191567"/>
            <a:ext cx="1903865" cy="1903865"/>
          </a:xfrm>
          <a:custGeom>
            <a:avLst/>
            <a:gdLst/>
            <a:ahLst/>
            <a:cxnLst/>
            <a:rect l="l" t="t" r="r" b="b"/>
            <a:pathLst>
              <a:path w="1903865" h="1903865">
                <a:moveTo>
                  <a:pt x="0" y="0"/>
                </a:moveTo>
                <a:lnTo>
                  <a:pt x="1903865" y="0"/>
                </a:lnTo>
                <a:lnTo>
                  <a:pt x="1903865" y="1903866"/>
                </a:lnTo>
                <a:lnTo>
                  <a:pt x="0" y="190386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12" name="TextBox 12"/>
          <p:cNvSpPr txBox="1"/>
          <p:nvPr/>
        </p:nvSpPr>
        <p:spPr>
          <a:xfrm>
            <a:off x="1494431" y="2771259"/>
            <a:ext cx="1551531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Technologies used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2838804" cy="2838804"/>
          </a:xfrm>
          <a:custGeom>
            <a:avLst/>
            <a:gdLst/>
            <a:ahLst/>
            <a:cxnLst/>
            <a:rect l="l" t="t" r="r" b="b"/>
            <a:pathLst>
              <a:path w="2838804" h="2838804">
                <a:moveTo>
                  <a:pt x="0" y="0"/>
                </a:moveTo>
                <a:lnTo>
                  <a:pt x="2838804" y="0"/>
                </a:lnTo>
                <a:lnTo>
                  <a:pt x="2838804" y="2838804"/>
                </a:lnTo>
                <a:lnTo>
                  <a:pt x="0" y="2838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2127816" y="2744127"/>
            <a:ext cx="14032368" cy="3388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16"/>
              </a:lnSpc>
            </a:pPr>
            <a:r>
              <a:rPr lang="en-US" sz="9440" b="1" spc="1123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Thanks for your time!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353</Words>
  <Application>Microsoft Office PowerPoint</Application>
  <PresentationFormat>По избор</PresentationFormat>
  <Paragraphs>58</Paragraphs>
  <Slides>10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6" baseType="lpstr">
      <vt:lpstr>Cy Grotesk Wide</vt:lpstr>
      <vt:lpstr>Calibri</vt:lpstr>
      <vt:lpstr>Cy Grotesk Wide Bold</vt:lpstr>
      <vt:lpstr>Arial</vt:lpstr>
      <vt:lpstr>Lastica Bold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Legends</dc:title>
  <dc:creator>Пламен</dc:creator>
  <cp:lastModifiedBy>Plamen Rusev</cp:lastModifiedBy>
  <cp:revision>5</cp:revision>
  <dcterms:created xsi:type="dcterms:W3CDTF">2006-08-16T00:00:00Z</dcterms:created>
  <dcterms:modified xsi:type="dcterms:W3CDTF">2025-12-04T20:47:05Z</dcterms:modified>
  <dc:identifier>DAG6fRJF_m8</dc:identifier>
</cp:coreProperties>
</file>